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final de POO: un sistema de gestión de biblioteca full-stack. Mencionar que integra las 4 unidades de la materia y que está publicado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no es solo técnico: resuelve un problema real de gestión bibliotecaria. Las cifras de la derecha resumen el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grandes funcionalidades. Resaltar el polimorfismo: libros y revistas se tratan como 'Recurso' para préstamos.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típico de uso de principio a fin, desde el login hasta la devolución.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Maqueta de la interfaz real: sidebar de navegación y tabla del catálogo con estados de disponibilidad.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capas: Angular consume la API REST por HTTP/JSON con JWT; la API persiste en SQL Server vía GORM. El repo está dividido en backend y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núcleo sirve a dos entradas (REST y CLI) y dos persistencias (SQL Server y memoria). Eso es exactamente OCP y DIP en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Librerías del backend y su rol. Destacar GORM (Code First) y golang-jwt + bcrypt para la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First: no se escribe SQL para crear tablas; los structs definen el esquema y GORM lo migra. Se generan 5 tablas.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JWT completo. Recalcar que las contraseñas se guardan con bcrypt y que el middleware protege cada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endpoints agrupados por dominio, todos en JSON. Swagger permite probarlos en vivo y maneja el token con el botón Authorize.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Angular 22 con lo más actual: standalone components, signals, interceptor JWT y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explícito de cómo el proyecto cubre las cuatro unidades de la asignatura, requisito del entregable.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Hacia dónde puede evolucionar el sistema gracias a la separación de responsabilidades.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reflexivo: aprendizaje, dificultades y aplicaciones prácticas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Recordar que el repositorio está en GitHub con README, documentación y Swagger.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051560" cy="1051560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PROGRAMACIÓN ORIENTADA A OBJETOS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Libros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UIDE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full-stack · Arquitectura hexagonal · API REST con JWT · Angular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4800600"/>
            <a:ext cx="3840480" cy="0"/>
          </a:xfrm>
          <a:prstGeom prst="line">
            <a:avLst/>
          </a:prstGeom>
          <a:noFill/>
          <a:ln w="19050">
            <a:solidFill>
              <a:srgbClr val="3250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983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Valenzuela Saavedra Andrés Fernando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Ciberseguridad — UIDE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junio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resuelve el proyecto?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6751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860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la gestión de una biblioteca: administrar el catálogo de libros y revistas, registrar a los lectores y controlar los préstamos y devoluciones, de forma segura y centralizada.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9044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3886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el catálogo y evita registros en papel o planillas sueltas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434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44165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la disponibilidad: sabe qué recurso está prestado y a quién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9651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49469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el acceso con autenticación de usuarios (JWT)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49554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54772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Sienta una base escalable y mantenible (SOLID + hexagonal)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7772400" y="196596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1E3A5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7772400" y="2240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NÚMEROS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772400" y="2697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800" dirty="0"/>
          </a:p>
        </p:txBody>
      </p:sp>
      <p:sp>
        <p:nvSpPr>
          <p:cNvPr id="17" name="Text 11"/>
          <p:cNvSpPr/>
          <p:nvPr/>
        </p:nvSpPr>
        <p:spPr>
          <a:xfrm>
            <a:off x="891540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web REST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772400" y="353872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9" name="Text 13"/>
          <p:cNvSpPr/>
          <p:nvPr/>
        </p:nvSpPr>
        <p:spPr>
          <a:xfrm>
            <a:off x="8915400" y="3538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(Code First)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0" y="4379976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1" name="Text 15"/>
          <p:cNvSpPr/>
          <p:nvPr/>
        </p:nvSpPr>
        <p:spPr>
          <a:xfrm>
            <a:off x="8915400" y="437997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apps: backend + frontend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0" y="5221224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8915400" y="522122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POO integradas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868680" cy="8686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52374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94560" y="280720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listar, buscar y eliminar libros y revistas. Libros y revistas son un mismo tipo Recurso (polimorfismo).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286000"/>
            <a:ext cx="868680" cy="868680"/>
          </a:xfrm>
          <a:prstGeom prst="ellipse">
            <a:avLst/>
          </a:prstGeom>
          <a:solidFill>
            <a:srgbClr val="EAF6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52374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/ lectores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726680" y="280720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y consulta de los lectores que pueden solicitar préstamos en la biblioteca.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114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43000" y="4434840"/>
            <a:ext cx="868680" cy="868680"/>
          </a:xfrm>
          <a:prstGeom prst="ellipse">
            <a:avLst/>
          </a:prstGeom>
          <a:solidFill>
            <a:srgbClr val="FBF3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4672584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9456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194560" y="495604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un recurso a un usuario, ver préstamos activos y registrar devoluciones con control de disponibilidad.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4114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434840"/>
            <a:ext cx="868680" cy="8686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672584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2668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726680" y="495604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con usuario y contraseña; el acceso a los servicios se protege con tokens JWT.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usuario (bibliotecario)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834640"/>
            <a:ext cx="777240" cy="7772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096" y="30540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Iniciar sesión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343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 admin / admin123 y obtiene un token JWT.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61188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30168" y="246888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98848" y="2834640"/>
            <a:ext cx="777240" cy="7772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05409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67328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Gestionar catálogo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813048" y="4343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libros y revistas; busca por título o autor.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1188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37376" y="246888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306056" y="2834640"/>
            <a:ext cx="777240" cy="7772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3054096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74536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Registrar lectores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620256" y="4343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 alta a los usuarios de la biblioteca.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08" y="361188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44584" y="246888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113264" y="2834640"/>
            <a:ext cx="777240" cy="7772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3054096"/>
            <a:ext cx="338328" cy="33832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81744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Prestar y devolver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427464" y="4343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 un recurso disponible y registra su devolución.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ocurre en la interfaz web Angular, que consume los servicios REST del backend.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en acción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70408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704088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05740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05740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05740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localhost:4200/libros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1737360" cy="3794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Biblioteca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3063240"/>
            <a:ext cx="1517904" cy="411480"/>
          </a:xfrm>
          <a:prstGeom prst="roundRect">
            <a:avLst>
              <a:gd name="adj" fmla="val 11111"/>
            </a:avLst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Libros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0" y="3108960"/>
            <a:ext cx="48920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31363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69080" y="31363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0" y="31363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37960" y="31363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 Años de Soledad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6908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García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37960" y="35204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C6F6D5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5204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3977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Aleph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69080" y="3977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L. Borges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3977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37960" y="39776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ED7D7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977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Rayuela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06908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Cortázar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44348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C6F6D5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4348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38160" y="1920240"/>
            <a:ext cx="3246120" cy="420624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4124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Angular</a:t>
            </a:r>
            <a:endParaRPr lang="en-US" sz="17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807208"/>
            <a:ext cx="256032" cy="25603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778240" y="2743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lateral entre Libros, Usuarios y Préstamos</a:t>
            </a:r>
            <a:endParaRPr lang="en-US" sz="12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3584448"/>
            <a:ext cx="256032" cy="25603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778240" y="3520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reactivos para registrar recursos</a:t>
            </a:r>
            <a:endParaRPr lang="en-US" sz="12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361688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778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disponibilidad con distintivos de color</a:t>
            </a:r>
            <a:endParaRPr lang="en-US" sz="125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5138928"/>
            <a:ext cx="256032" cy="25603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778240" y="5074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viaja con el token JWT del usuario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full-stack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788920"/>
            <a:ext cx="914400" cy="91440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708" y="30358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(SPA)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4572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JWT · Catálogo · Usuarios · Préstamos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36576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404164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JWT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846320" y="246888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012180" y="2788920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68" y="30358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3794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4632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API REST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5074920" y="4572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+ SOLID · Gin · JWT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36576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2440" y="404164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8869680" y="246888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35540" y="2788920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428" y="303580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69680" y="3794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86968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(Docker)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098280" y="4572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 Code First · 5 tablas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organizado en dos carpetas:  backend/  (Go)  ·  frontend/  (Angular)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(puertos y adaptadores) + SOLID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743200" cy="2697480"/>
          </a:xfrm>
          <a:prstGeom prst="roundRect">
            <a:avLst>
              <a:gd name="adj" fmla="val 3051"/>
            </a:avLst>
          </a:prstGeom>
          <a:solidFill>
            <a:srgbClr val="EEF4FB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 DE ENTRADA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(Gin + JWT)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(menú consola)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77640" y="2103120"/>
            <a:ext cx="4206240" cy="3154680"/>
          </a:xfrm>
          <a:prstGeom prst="roundRect">
            <a:avLst>
              <a:gd name="adj" fmla="val 260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F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DOMINIO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28346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+ reglas de negocio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· Revista · Usuario · Préstamo · Cuenta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aplicación (casos de uso)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de framework ni de BD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95360" y="2331720"/>
            <a:ext cx="2743200" cy="2697480"/>
          </a:xfrm>
          <a:prstGeom prst="roundRect">
            <a:avLst>
              <a:gd name="adj" fmla="val 3051"/>
            </a:avLst>
          </a:prstGeom>
          <a:solidFill>
            <a:srgbClr val="EEF4FB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 DE SALIDA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0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(GORM)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(RAM)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(hash)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429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183880" y="3429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53949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responsabilidad por servicio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53512" y="54406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9" name="Text 17"/>
          <p:cNvSpPr/>
          <p:nvPr/>
        </p:nvSpPr>
        <p:spPr>
          <a:xfrm>
            <a:off x="2953512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56432" y="53949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adaptadores sin tocar el núcleo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84064" y="54406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2" name="Text 20"/>
          <p:cNvSpPr/>
          <p:nvPr/>
        </p:nvSpPr>
        <p:spPr>
          <a:xfrm>
            <a:off x="5084064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86984" y="53949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Libro/Revista sustituyen a Recurso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14616" y="54406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5" name="Text 23"/>
          <p:cNvSpPr/>
          <p:nvPr/>
        </p:nvSpPr>
        <p:spPr>
          <a:xfrm>
            <a:off x="7214616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17536" y="53949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pequeños y específicos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45168" y="54406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8" name="Text 26"/>
          <p:cNvSpPr/>
          <p:nvPr/>
        </p:nvSpPr>
        <p:spPr>
          <a:xfrm>
            <a:off x="9345168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48088" y="53949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depende de puertos, no de implementaciones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y librerías — Backend (Go)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731520" cy="7315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5054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HTTP: enrutado, middleware y respuestas JSON.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86000"/>
            <a:ext cx="731520" cy="7315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5054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con enfoque Code First (AutoMigrate genera el esquema).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286000"/>
            <a:ext cx="731520" cy="7315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5054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golang-jwt v5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y validación de tokens JWT (HS256).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397764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97280" y="4251960"/>
            <a:ext cx="731520" cy="7315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44714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09728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 contraseñas (golang.org/x/crypto).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251960"/>
            <a:ext cx="731520" cy="7315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447141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swaggo / swag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6344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OpenAPI y Swagger UI.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397764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251960"/>
            <a:ext cx="731520" cy="7315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47141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go-mssqldb + godotenv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2960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de SQL Server y configuración por .env.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Code First sobre SQL 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40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Code First?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se definen en el código (structs de Go). Al arrancar, GORM ejecuta AutoMigrate y crea o actualiza automáticamente las tablas en la base de datos.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 </a:t>
            </a:r>
            <a:pPr indent="0" marL="0">
              <a:buNone/>
            </a:pPr>
            <a:r>
              <a:rPr lang="en-US" sz="15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AutoMigrate  →  </a:t>
            </a:r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Docker: </a:t>
            </a:r>
            <a:pPr indent="0" marL="0"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mssql/server:2022 en localhost:1433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biblioteca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1965960"/>
            <a:ext cx="4709160" cy="4023360"/>
          </a:xfrm>
          <a:prstGeom prst="roundRect">
            <a:avLst>
              <a:gd name="adj" fmla="val 2045"/>
            </a:avLst>
          </a:prstGeom>
          <a:solidFill>
            <a:srgbClr val="1E3A5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F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GENERADAS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74320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26456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2862072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6968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libros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49440" y="3346704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26456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346557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0" y="33467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revistas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869680" y="33467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revistas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949440" y="3950208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26456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406908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0" y="3950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869680" y="3950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lectores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949440" y="455371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26456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467258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4553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prestamos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869680" y="4553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y devoluciones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949440" y="5157216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26456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527608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0" y="51572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869680" y="515721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(JWT)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JWT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95144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4505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40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Login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0" y="22402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envía sus credenciales a /api/auth/login.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10896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255264"/>
            <a:ext cx="548640" cy="548640"/>
          </a:xfrm>
          <a:prstGeom prst="ellipse">
            <a:avLst/>
          </a:prstGeom>
          <a:solidFill>
            <a:srgbClr val="FBF3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41071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200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Token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20040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valida (bcrypt) y emite un JWT firmado (HS256).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406908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215384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3708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Acceso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57600" y="41605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viaja con Authorization: Bearer &lt;token&gt;.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502920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5175504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533095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120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Verificación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657600" y="512064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middleware valida el token antes de ejecutar el servicio.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863840" y="214884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1E3A5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098280" y="2468880"/>
            <a:ext cx="1005840" cy="1005840"/>
          </a:xfrm>
          <a:prstGeom prst="ellipse">
            <a:avLst/>
          </a:prstGeom>
          <a:solidFill>
            <a:srgbClr val="26456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7432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6384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capas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092440" y="40690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nunca en texto plano (bcrypt)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con expiración (24 h)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protegidas por middleware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Swagger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servicios web · serialización JSON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64008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596896"/>
            <a:ext cx="274320" cy="27432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231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231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64008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328416"/>
            <a:ext cx="274320" cy="27432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1546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· crear · buscar · obtener · eliminar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64008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059936"/>
            <a:ext cx="274320" cy="27432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8862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8862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revistas · recursos · resumen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617720"/>
            <a:ext cx="64008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4791456"/>
            <a:ext cx="274320" cy="27432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46177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6177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· crear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64008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5522976"/>
            <a:ext cx="274320" cy="274320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53492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53492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· devolver · activos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43800" y="1920240"/>
            <a:ext cx="3840480" cy="41605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19456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366760" y="2212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81812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interactiva en: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18120" y="3200400"/>
            <a:ext cx="3337560" cy="4572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/>
        </p:spPr>
      </p:sp>
      <p:sp>
        <p:nvSpPr>
          <p:cNvPr id="30" name="Text 27"/>
          <p:cNvSpPr/>
          <p:nvPr/>
        </p:nvSpPr>
        <p:spPr>
          <a:xfrm>
            <a:off x="781812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2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/swagger/index.html</a:t>
            </a:r>
            <a:endParaRPr lang="en-US" sz="12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858768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156448" y="38039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cada endpoint desde el navegador</a:t>
            </a:r>
            <a:endParaRPr lang="en-US" sz="11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07408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156448" y="43525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de request/response (DTOs)</a:t>
            </a:r>
            <a:endParaRPr lang="en-US" sz="11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956048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156448" y="49011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Authorize para el token JWT</a:t>
            </a:r>
            <a:endParaRPr lang="en-US" sz="115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5504688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156448" y="544982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 desde anotaciones del código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Angular 22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731520" cy="7315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5054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standalone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9728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NgModules; arquitectura moderna basada en componentes.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86000"/>
            <a:ext cx="731520" cy="7315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5054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reactivo y eficiente para la interfaz.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286000"/>
            <a:ext cx="731520" cy="7315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5054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el token JWT en cada petición automáticamente.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397764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97280" y="4251960"/>
            <a:ext cx="731520" cy="7315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44714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251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09728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Protegen las rutas privadas si no hay sesión.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251960"/>
            <a:ext cx="731520" cy="7315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447141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251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+ RxJS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6344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la API REST con observables.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397764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251960"/>
            <a:ext cx="731520" cy="7315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47141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251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CRUD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2960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Libros, Usuarios y Préstamos.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las 4 unidades de POO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60320"/>
            <a:ext cx="777240" cy="77724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031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03120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POO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30815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encapsulamiento y constructores con validación.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2560320"/>
            <a:ext cx="777240" cy="77724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3524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240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y polimorfismo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30815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y Revista implementan la interfaz Recurso (LSP).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43000" y="4572000"/>
            <a:ext cx="777240" cy="777240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10312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/ SOLID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5093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y adaptadores, inyección de dependencias (DIP).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4069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0" y="4572000"/>
            <a:ext cx="777240" cy="7772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63524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3524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Persistencia, web y seguridad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5093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 Code First, API REST JSON y autenticación JWT.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del futuro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elegida permite crecer sin reescribir el núcleo: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743200"/>
            <a:ext cx="822960" cy="8229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9809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nube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94560" y="308152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aislado puede desplegarse como microservicios en contenedores (Docker / Kubernetes).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23317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743200"/>
            <a:ext cx="822960" cy="8229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9809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canales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726680" y="308152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móviles o asistentes de voz consumirían los mismos servicios web sin cambiar la lógica.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420624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617720"/>
            <a:ext cx="822960" cy="8229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485546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9456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inteligente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94560" y="49560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recomendaciones de lectura, búsqueda semántica y predicción de demanda.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55080" y="420624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8B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4617720"/>
            <a:ext cx="822960" cy="82296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85546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2668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datos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726680" y="49560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histórico de préstamos habilita reportes y decisiones institucionales.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5029200" cy="5029200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REFLEXIVA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aprendido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15600" cy="1143000"/>
          </a:xfrm>
          <a:prstGeom prst="roundRect">
            <a:avLst>
              <a:gd name="adj" fmla="val 5600"/>
            </a:avLst>
          </a:prstGeom>
          <a:solidFill>
            <a:srgbClr val="1B325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83280" y="23317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buena separación de responsabilidades (hexagonal + SOLID) hace que añadir una API REST, JWT o una base de datos real sea un cambio aditivo, no una reescritura.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0515600" cy="1143000"/>
          </a:xfrm>
          <a:prstGeom prst="roundRect">
            <a:avLst>
              <a:gd name="adj" fmla="val 5600"/>
            </a:avLst>
          </a:prstGeom>
          <a:solidFill>
            <a:srgbClr val="1B325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8328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Rehidratar entidades desde la BD manteniendo el encapsulamiento, e integrar la autenticación JWT entre Angular y Go (CORS e interceptores).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0515600" cy="1143000"/>
          </a:xfrm>
          <a:prstGeom prst="roundRect">
            <a:avLst>
              <a:gd name="adj" fmla="val 5600"/>
            </a:avLst>
          </a:prstGeom>
          <a:solidFill>
            <a:srgbClr val="1B325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4983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sirve para cualquier sistema de gestión empresarial —inventarios, reservas, ventas— donde la lógica deba mantenerse estable ante cambios de infraestructura.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828800"/>
            <a:ext cx="960120" cy="960120"/>
          </a:xfrm>
          <a:prstGeom prst="ellipse">
            <a:avLst/>
          </a:prstGeom>
          <a:solidFill>
            <a:srgbClr val="3182C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2140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Libros — Biblioteca UIDE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480560" y="466344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1B325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8188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4663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completo en GitHub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Valenzuela Saavedra Andrés Fernando  ·  POO  ·  28 / 06 /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Libros — Biblioteca UIDE</dc:title>
  <dc:subject>PptxGenJS Presentation</dc:subject>
  <dc:creator>Valenzuela Saavedra Andrés Fernando</dc:creator>
  <cp:lastModifiedBy>Valenzuela Saavedra Andrés Fernando</cp:lastModifiedBy>
  <cp:revision>1</cp:revision>
  <dcterms:created xsi:type="dcterms:W3CDTF">2026-06-28T18:05:41Z</dcterms:created>
  <dcterms:modified xsi:type="dcterms:W3CDTF">2026-06-28T18:05:41Z</dcterms:modified>
</cp:coreProperties>
</file>